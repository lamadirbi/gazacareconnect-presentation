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12" r:id="rId63"/>
    <p:sldId id="318" r:id="rId69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63" Type="http://schemas.openxmlformats.org/officeDocument/2006/relationships/slide" Target="slides/slide49.xml"/><Relationship Id="rId69" Type="http://schemas.openxmlformats.org/officeDocument/2006/relationships/slide" Target="slides/slide50.xml"/><Relationship Id="rId74" Type="http://schemas.openxmlformats.org/officeDocument/2006/relationships/slide" Target="slides/slide51.xml"/><Relationship Id="rId75" Type="http://schemas.openxmlformats.org/officeDocument/2006/relationships/slide" Target="slides/slide52.xml"/><Relationship Id="rId76" Type="http://schemas.openxmlformats.org/officeDocument/2006/relationships/slide" Target="slides/slide53.xml"/><Relationship Id="rId77" Type="http://schemas.openxmlformats.org/officeDocument/2006/relationships/slide" Target="slides/slide54.xml"/><Relationship Id="rId78" Type="http://schemas.openxmlformats.org/officeDocument/2006/relationships/slide" Target="slides/slide55.xml"/><Relationship Id="rId79" Type="http://schemas.openxmlformats.org/officeDocument/2006/relationships/slide" Target="slides/slide56.xml"/><Relationship Id="rId80" Type="http://schemas.openxmlformats.org/officeDocument/2006/relationships/slide" Target="slides/slide57.xml"/><Relationship Id="rId81" Type="http://schemas.openxmlformats.org/officeDocument/2006/relationships/slide" Target="slides/slide58.xml"/><Relationship Id="rId82" Type="http://schemas.openxmlformats.org/officeDocument/2006/relationships/slide" Target="slides/slide59.xml"/><Relationship Id="rId83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University of Palestine  ·  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D8F3EF"/>
                </a:solidFill>
                <a:latin typeface="Calibri"/>
                <a:ea typeface="Calibri"/>
                <a:cs typeface="Calibri"/>
              </a:rPr>
              <a:t>A remote medical bridge linking Gaza patients with external specialists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University of Palestine — Software Engineering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Graduation Project 2025–2026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Supervisor: Dr. Fatma Alrubaei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Team: Lama Al-Darbi · Hala Al-Darbi · Dima Ayoub · Reem Salama · Ismail Abdelall · Ahmed Abo Shamala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FC9C3"/>
                </a:solidFill>
                <a:latin typeface="Calibri"/>
                <a:ea typeface="Calibri"/>
                <a:cs typeface="Calibri"/>
              </a:rPr>
              <a:t>1 / 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Agenda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Ch.1 Problem, context, and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56841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266569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84857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29993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Ch.2 Technologies and prior-platform weaknesses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759202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286893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88721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32354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Ch.3 Methodology, Increment phases, survey, and requirements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61563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3471291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489579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434715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Ch.4 Use cases for the three roles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963924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037076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Ch.5 UML diagrams in detail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566285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4676013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694301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639437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Ch.6 Implementation, architecture, and UI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168646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8368" y="527837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29666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241798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Ch.7 Testing and security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771007"/>
            <a:ext cx="11155680" cy="4926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368" y="5880735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899023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844159"/>
            <a:ext cx="10149840" cy="3829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Ch.8 Achievements, recommendations,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Chapter 1 —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The starting point is Gaza’s healthcare reality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The research problem is defined clearly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The system goals and limits are clarified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What Reality Motivated the Project?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Shortage of specialists inside Gaza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18257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627985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646273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591409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High pressure on hospitals and clinics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82034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59176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61005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555186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Hard to get timely specialty medical advice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45811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4555539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573827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518963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Many patients use WhatsApp/Facebook for medical advice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09588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551931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53760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482740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These channels are informal: no organized medical oversight and weak privacy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Research Problem and 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Problem: no secure, organized, integrated remote-consultation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59202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86893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8721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32354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Solution: GazaCare Connect as a formal digital bridge between Gaza patients and external physicians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63924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037076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Supports: registration, text consults, uploads, follow-up, and physician 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8646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527837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29666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41798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Important: non-emergency consults only — not a substitute for ER or in-person care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Scope and Limitations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353312"/>
          <a:ext cx="11430000" cy="5001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8915400"/>
              </a:tblGrid>
              <a:tr h="1000353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Details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100035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Geographic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Patients in Gaza and specialists outside the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035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Functional scope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Register, text consult, uploads, reply, follow-up, admin verification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100035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Technical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Web platform: React/Next.js + Laravel + MySQL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035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Limits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Weak internet · legal constraints · not for emergencies · Gaza-specific context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Chapter 2 — 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First: technologies used to build the platform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Second: documented weaknesses of three Gaza-related platforms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Chosen Technologies and Why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353312"/>
          <a:ext cx="114300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Role in the project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UI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Figma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Screen design and interactive prototypes before 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Modeling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Edraw Max and Draw.io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Flowcharts and UML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React.js, Next.js, TypeScript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Fits weak internet via a lightweight fast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Markup/styling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HTML5 and CSS3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Page structure, styling, and responsiveness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Dev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VS Code and Git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Coding and team version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Laravel and PHP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Fits medical-data security via auth and permissions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MySQL and phpMyAdmin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Store users, consultations, and medical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5760" y="5349240"/>
            <a:ext cx="273405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2-tech_01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943" y="5422392"/>
            <a:ext cx="713689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044184"/>
            <a:ext cx="27340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React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5349240"/>
            <a:ext cx="273405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2-tech_02_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300" y="5422392"/>
            <a:ext cx="1072270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64408" y="6044184"/>
            <a:ext cx="27340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Next.js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5349240"/>
            <a:ext cx="273405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2-tech_03_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578" y="5422392"/>
            <a:ext cx="623011" cy="640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63056" y="6044184"/>
            <a:ext cx="27340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Laravel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5349240"/>
            <a:ext cx="273405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2-tech_04_image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6542" y="5422392"/>
            <a:ext cx="1244379" cy="640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61704" y="6044184"/>
            <a:ext cx="27340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MySQL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Weaknesses of Previous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Source: direct screenshot documentation of the listed platforms.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8915400"/>
              </a:tblGrid>
              <a:tr h="113614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Platform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Main weakness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113614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Gxza 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When demand is high, consultation intake shuts down entirely — no queue, just a closed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3614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MENA Health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No direct in-platform consultation — patient must go through Telegram, then a separate registration link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113614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Heal Gaza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Official website is fully down; only Instagram remains, with a dead site link in the Instagram bio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10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Chapter 3 — Research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Methodology: Incremental Model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Then the survey and its findings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Then turning findings into requirements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11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Why Incremental? And What Are Its Phases?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Delivers an early working prototype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18257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627985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646273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591409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Integrates user feedback in every increment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82034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59176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61005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555186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Helps manage technical risks early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45811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4555539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573827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518963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Prioritizes core features before secondary ones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09588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551931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53760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482740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Each increment: analysis → design → implementation →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Comparing the Phases of Each Increment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Each Increment goes through four phases — and why each matters  ·  Note: The four phases repeat inside every Increment — not only once at the end of the project.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908913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happens?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Why it matters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90891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Define roles and needs; examine informal channels such as 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Ensures features are based on real user needs, not assumptions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891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Design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Design UI, UML diagrams, and database structure before coding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Reduces later errors and clarifies system structure before implementation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90891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Implementation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Build the functional part of the increment (Frontend / Backend / Database)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Turns design into an early testable system within each Increment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891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Testing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Unit, integration, security, and usability testing for the current increment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Catches issues early before the next increment and supports reliability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From Survey to Design Decisions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353312"/>
          <a:ext cx="11430000" cy="5001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8336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Survey question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we found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Rate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we decided in the system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8336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Which channels are used now for medical advice?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Informal channels (Facebook/WhatsApp 52% + acquaintances 38%)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Build a verified environment instead of informal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36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Is it important for you that your data stays confidential?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Most participants said their data confidentiality is very important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94%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Strong file protection with Authentication and Authorization, and choosing Laravel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8336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What are the main technical barriers to using the platform?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Weak internet is a main barrier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Light UI and asynchronous consultation using Next.js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36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Is the participant a patient or a caregiver?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 large share of participants are caregivers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60%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Add Caregiver Mode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8336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Which specialties are hardest to access?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Hardest access: dermatology consults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Focus on simple, organized specialty consults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From Survey to Design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Specialized medical needs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3-survey_01_image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935" y="1828800"/>
            <a:ext cx="735965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From Survey to Design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Current channels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3-survey_02_image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276" y="1828800"/>
            <a:ext cx="625096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From Survey to Design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Trust in medical data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3-survey_03_image2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636" y="1828800"/>
            <a:ext cx="622624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From Survey to Design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Technical barriers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3-survey_04_image2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417" y="1828800"/>
            <a:ext cx="985468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From Survey to Design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Respondent type: patient / caregiver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3-survey_05_image2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611" y="1828800"/>
            <a:ext cx="858229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Shared Requirements for All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We started by defining Functional and Non-functional 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20240"/>
            <a:ext cx="11155680" cy="63246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02996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04825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993392"/>
            <a:ext cx="10149840" cy="5227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RQ-01: Secure login with email and password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62428"/>
            <a:ext cx="11155680" cy="6324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277215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79044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735580"/>
            <a:ext cx="10149840" cy="5227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RQ-02 and RQ-03: Reset password and change password from settings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04616"/>
            <a:ext cx="11155680" cy="63246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51434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3263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477768"/>
            <a:ext cx="10149840" cy="5227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RQ-04: Update personal profile (patient medical/personal data; physician specialty/credentials)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146804"/>
            <a:ext cx="11155680" cy="6324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25653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27482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219956"/>
            <a:ext cx="10149840" cy="5227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RQ-05: In-app notifications (verification, assignment, reply, follow-up)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88992"/>
            <a:ext cx="11155680" cy="63246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99872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01700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962144"/>
            <a:ext cx="10149840" cy="5227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RQ-06: Logout and end the session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631180"/>
            <a:ext cx="11155680" cy="6324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57409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7591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704332"/>
            <a:ext cx="10149840" cy="5227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Shared requirements RQ-01 to RQ-06 for patient, physician, and admin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20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Role Requirements in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Non-functional: strong security · Arabic RTL UI · performance under weak network · reliability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Patient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Physician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RQ-07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RQ-15 Register pending admin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RQ-23 Manage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RQ-08 Enable Caregiver Mode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RQ-16 View consultation requests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RQ-24 Disable or enable accounts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RQ-09/RQ-10 Browse verified physicians and view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RQ-17 Take a general consult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RQ-25 Approve or reject physician verification with notice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RQ-11 Submit text consultation (general or physician-directed)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RQ-18/RQ-19 View patient data and medical attachments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RQ-12 Upload medical attachments (images/PDF)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RQ-20 Reply with Mild / Moderate / Critical severity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RQ-13 Track consult status and physician reply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RQ-21 Follow-up message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RQ-14 Send follow-up message after reply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RQ-22 View previous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21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Chapter 4 — Use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Each UC maps 1:1 to the same-number RQ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One key documentation-table example per group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Shared UC-01 to UC-06 · Patient UC-07 to UC-14 · Physician UC-15 to UC-22 · Admin UC-23 to UC-25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Shared example: UC-01 / RQ-01 —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Key shared use case — group UC-01 to UC-06  ·  Other shared: UC-02 Reset Password · UC-03 Change Password · UC-04 Update Profile · UC-05 Notifications · UC-06 Logout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8915400"/>
              </a:tblGrid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Details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Use Case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UC-01 / RQ-01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Use Case Name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Login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Patient, Physician,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Users log into the system using their email and password.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Precondition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The user already has an account and the account is not disabled.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Basic Flow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1. User opens the login page.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2. Enters email and password.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3. System verifies credentials.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4. User is redirected to the role-based dashboard.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Alternate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a. Invalid credentials → Error message shown.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b. Disabled account → Access denied.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c. Forgot password → Redirect to Reset Password.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Postcondition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User is authenticated and logged into the system.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Patient example: UC-11 / RQ-11 — Submit Consultation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Key patient use case — group UC-07 to UC-14  ·  Other patient: UC-07 Register · UC-08 Caregiver Mode · UC-09/10 Browse physicians · UC-12 Attachments · UC-13 Status · UC-14 Follow-up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8915400"/>
              </a:tblGrid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Details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Use Case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UC-11 / RQ-11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Use Case Name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Submit Consultation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Patient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Patient submits an asynchronous text consultation either to the shared physician queue or directly to a selected verified physician.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Precondition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Patient is logged 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Basic Flow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1. Patient opens "New Consultation".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2. Writes the medical question (text).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3. Chooses assignment mode: queue or direct.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4. If direct, selects a verified physician.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5. Optionally attaches medical files (max 20 files).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6. Submits the consultation.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7. System stores the case as pending.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Alternate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a. Invalid/short question → Error message.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b. Direct mode without physician → Validation error.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c. Selected physician unavailable → Error message.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Postcondition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 new consultation is created and awaiting physician handling.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Physician example: UC-20 / RQ-20 — Medical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Key physician use case — group UC-15 to UC-22  ·  Other physician: UC-15 Register · UC-16 View requests · UC-17 Take general · UC-18/19 Patient data &amp; files · UC-21 Follow-up · UC-22 Previous cases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8915400"/>
              </a:tblGrid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Details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Use Case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UC-20 / RQ-20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Use Case Name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Send Medical Recommendation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Physician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Physician sends a medical recommendation, assigns case severity, and optionally marks the consultation as completed.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Precondition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Consultation is assigned to the verified physician.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Basic Flow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1. Physician writes the recommendation.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2. Selects case severity (mild / moderate / critical).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3. Optionally marks the case as completed.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4. Submits the response.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5. System notifies the patient.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Alternate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a. Missing recommendation or severity → Validation error.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Postcondition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Recommendation is sent; consultation is updated (pending review or completed).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Admin example: UC-25 / RQ-25 — Physician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Key admin use case — group UC-23 to UC-25  ·  Other admin: UC-23 Manage users · UC-24 Disable/enable account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8915400"/>
              </a:tblGrid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Details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Use Case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UC-25 / RQ-25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Use Case Name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Approve / Reject Physician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Admin reviews pending physician credentials and approves or rejects verification.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Precondition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At least one physician registration is pending verification.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Basic Flow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1. Admin opens pending physicians page.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2. Reviews specialty and certificate information.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3. Approves or rejects the physician.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4. System updates verification status and notifies the physician.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Alternate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a. No pending physicians → Empty list.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Postcondition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Physician is verified (can handle consultations) or rejected with the reason for rejection and the ability to resubmit a verification request.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86868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Consultation path: general and physician-directed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115568"/>
            <a:ext cx="1131387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Shared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1426464"/>
            <a:ext cx="3564026" cy="1170432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5875">
            <a:solidFill>
              <a:srgbClr val="0F8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  ·  UC-11 / RQ-11</a:t>
            </a:r>
          </a:p>
          <a:p>
            <a:pPr algn="l">
              <a:spcBef>
                <a:spcPts val="300"/>
              </a:spcBef>
            </a:pPr>
            <a:r>
              <a:rPr sz="1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Submit text consultation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Patient writes the question, chooses general or directed, then sends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3834" y="1426464"/>
            <a:ext cx="3564026" cy="1170432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5875">
            <a:solidFill>
              <a:srgbClr val="0F8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  ·  UC-12 / RQ-12</a:t>
            </a:r>
          </a:p>
          <a:p>
            <a:pPr algn="l">
              <a:spcBef>
                <a:spcPts val="300"/>
              </a:spcBef>
            </a:pPr>
            <a:r>
              <a:rPr sz="1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Upload medical attachments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Optional photos or PDF to support diagnosis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8756" y="1426464"/>
            <a:ext cx="3564026" cy="1170432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5875">
            <a:solidFill>
              <a:srgbClr val="0F8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  ·  Pending</a:t>
            </a:r>
          </a:p>
          <a:p>
            <a:pPr algn="l">
              <a:spcBef>
                <a:spcPts val="300"/>
              </a:spcBef>
            </a:pPr>
            <a:r>
              <a:rPr sz="1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Awaiting physician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Consultation stays pending until a verified physician replies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57802" y="1947672"/>
            <a:ext cx="201168" cy="128016"/>
          </a:xfrm>
          <a:prstGeom prst="rightArrow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932724" y="1947672"/>
            <a:ext cx="201168" cy="128016"/>
          </a:xfrm>
          <a:prstGeom prst="rightArrow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5995263" y="2633472"/>
            <a:ext cx="201168" cy="146304"/>
          </a:xfrm>
          <a:prstGeom prst="downArrow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798064"/>
            <a:ext cx="1131387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782A"/>
                </a:solidFill>
                <a:latin typeface="Calibri"/>
                <a:ea typeface="Calibri"/>
                <a:cs typeface="Calibri"/>
              </a:rPr>
              <a:t>Branch by consultation 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3072384"/>
            <a:ext cx="5528919" cy="1115568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5875">
            <a:solidFill>
              <a:srgbClr val="0F8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UC-17 / RQ-17</a:t>
            </a:r>
          </a:p>
          <a:p>
            <a:pPr algn="l">
              <a:spcBef>
                <a:spcPts val="300"/>
              </a:spcBef>
            </a:pPr>
            <a:r>
              <a:rPr sz="1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General consultation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Goes to a shared list; any verified physician can take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863" y="3072384"/>
            <a:ext cx="5528919" cy="1115568"/>
          </a:xfrm>
          <a:prstGeom prst="roundRect">
            <a:avLst>
              <a:gd name="adj" fmla="val 8000"/>
            </a:avLst>
          </a:prstGeom>
          <a:solidFill>
            <a:srgbClr val="FFF6EA"/>
          </a:solidFill>
          <a:ln w="20320">
            <a:solidFill>
              <a:srgbClr val="C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200" b="1">
                <a:solidFill>
                  <a:srgbClr val="C4782A"/>
                </a:solidFill>
                <a:latin typeface="Calibri"/>
                <a:ea typeface="Calibri"/>
                <a:cs typeface="Calibri"/>
              </a:rPr>
              <a:t>No UC-17</a:t>
            </a:r>
          </a:p>
          <a:p>
            <a:pPr algn="l">
              <a:spcBef>
                <a:spcPts val="300"/>
              </a:spcBef>
            </a:pPr>
            <a:r>
              <a:rPr sz="1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Directed to a specific physician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Request goes directly to the physician chosen by the patient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102787" y="4206240"/>
            <a:ext cx="201168" cy="146304"/>
          </a:xfrm>
          <a:prstGeom prst="downArrow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8887738" y="4206240"/>
            <a:ext cx="201168" cy="146304"/>
          </a:xfrm>
          <a:prstGeom prst="downArrow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4370832"/>
            <a:ext cx="1131387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Paths meet and continue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" y="4626864"/>
            <a:ext cx="5528919" cy="1078992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5875">
            <a:solidFill>
              <a:srgbClr val="0F8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  ·  UC-20 / RQ-20</a:t>
            </a:r>
          </a:p>
          <a:p>
            <a:pPr algn="l">
              <a:spcBef>
                <a:spcPts val="300"/>
              </a:spcBef>
            </a:pPr>
            <a:r>
              <a:rPr sz="1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Send medical reply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Recommendation with severity: Mild / Moderate / Critical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3863" y="4626864"/>
            <a:ext cx="5528919" cy="1078992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5875">
            <a:solidFill>
              <a:srgbClr val="0F8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  ·  UC-14 + UC-21</a:t>
            </a:r>
          </a:p>
          <a:p>
            <a:pPr algn="l">
              <a:spcBef>
                <a:spcPts val="300"/>
              </a:spcBef>
            </a:pPr>
            <a:r>
              <a:rPr sz="1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Follow-up after first reply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Patient and physician continue the thread in the same consult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95263" y="5102352"/>
            <a:ext cx="201168" cy="128016"/>
          </a:xfrm>
          <a:prstGeom prst="rightArrow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Verification and Permission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A clear sequence from physician registration to verification and permissions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20240"/>
            <a:ext cx="11155680" cy="780897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02996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04825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993392"/>
            <a:ext cx="10149840" cy="6711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UC-15 / RQ-15 (physician registration) — the new physician creates an account and stays Pending Verification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10865"/>
            <a:ext cx="11155680" cy="7808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2920593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38881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884017"/>
            <a:ext cx="10149840" cy="6711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Before UC-25 / RQ-25 (approve or reject physician verification): the physician can see the dashboard only — no UC-17 / RQ-17 (take a general consult) and no UC-20 / RQ-20 (send medical reply)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01490"/>
            <a:ext cx="11155680" cy="780897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81121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82950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774642"/>
            <a:ext cx="10149840" cy="6711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UC-25 / RQ-25 (Admin approves verification) — after approval, take-case and reply permissions are enabled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592115"/>
            <a:ext cx="11155680" cy="7808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701843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720131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65267"/>
            <a:ext cx="10149840" cy="6711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If rejected via UC-25 / RQ-25 (reject verification with a reason): the physician can re-submit later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482740"/>
            <a:ext cx="11155680" cy="780897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559246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61075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555892"/>
            <a:ext cx="10149840" cy="6711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UC-24 / RQ-24 (disable or enable account) — disabling blocks access to protected features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Chapter 5 — Modeling and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UML maps were prepared before coding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Activity + use case + sequence + class diagrams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These diagrams are the basis for Chapter 6 implementation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Activity and Use Case Diagrams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Activity diagram shows the consult path end to 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59202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86893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8721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32354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It branches by role: patient, physician, admin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63924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037076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Use case diagram defines the three actors and their functions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8646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527837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29666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41798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Actors: Patient, Physician, and Admin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30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Activity and Use Case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Activity diagram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activity_01_imag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874" y="1828800"/>
            <a:ext cx="616977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31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Activity and Use Case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Use case diagram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activity_02_image2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607" y="1828800"/>
            <a:ext cx="587630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The seven sequence diagrams —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Each row explains the process across frontend, backend, and database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Process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happens?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On success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On failure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1)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User fills the form; frontend sends data to backend then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Account created and user enters the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Email already used → error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2) Login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Enter email and password and verify them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Go to the matching role dashboard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Wrong credentials or disabled account → access denied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3) Reset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Request an email link then set a new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Password updated successfully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Email not found → failure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4) Edit medical profile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Load current data then save edits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Success message shown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Invalid data → error message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5) Create consultation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Write the question, choose general or directed, optional attachments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Consultation saved as 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Short question or missing physician →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6) Physician reply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Take the case then write reply with severity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Patient receives reply with Mild / Moderate / Critical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Already taken or missing severity → error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6807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7) 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End the session and remove the access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Return to the Login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No main failure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UML Sequence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Sequence 1 — Register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seq-diagrams_01_image2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896" y="1828800"/>
            <a:ext cx="638572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UML Sequence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Sequence 2 — 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seq-diagrams_02_image3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299" y="1828800"/>
            <a:ext cx="508692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UML Sequence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Sequence 3 — Reset Password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seq-diagrams_03_image3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828800"/>
            <a:ext cx="4160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UML Sequence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Sequence 4 — Edit Medical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seq-diagrams_04_image3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640" y="1828800"/>
            <a:ext cx="415623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UML Sequence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Sequence 5 — Create Consultation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seq-diagrams_05_image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716" y="1828800"/>
            <a:ext cx="480208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UML Sequence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Sequence 6 — Physician Responds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seq-diagrams_06_image3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253" y="1828800"/>
            <a:ext cx="434701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UML Sequence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Sequence 7 — Logout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seq-diagrams_07_image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637" y="1828800"/>
            <a:ext cx="830224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40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Class Diagram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User is the base class for Patient, Physician, and Admin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57628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46735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48564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430780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Consultation links to medical files and follow-up messages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60776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27050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28879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233928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Consultation events create notifications: case assignment, physician reply, and follow-up message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63924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037076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Severity: Mild / Moderate / Critical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67072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487680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89508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840224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Assignment mode: general or physician-directed consultation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70220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567994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69823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643372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This diagram leads directly to MySQL tables in implementation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41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Class 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Class diagram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5-class_01_image3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118" y="1828800"/>
            <a:ext cx="570328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Chapter 6 —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This chapter shows the design implemented as a fully working web platform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Three-tier architecture: frontend, Laravel server, and MySQL database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Implemented through functional modules, with each role’s interfaces shown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How Was the System Built?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Presentation layer: React.js, Next.js, TypeScript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18257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627985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646273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591409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Application layer: Laravel/PHP with REST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82034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59176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61005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555186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Data layer: MySQL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45811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4555539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573827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518963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Auth: Laravel Sanctum tokens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09588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551931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53760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482740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Authorization via Middleware by role: Patient / Physician / Admin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Main Database Tables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353312"/>
          <a:ext cx="11430000" cy="5001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8915400"/>
              </a:tblGrid>
              <a:tr h="5557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Table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All role accounts with a unified role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physician_profiles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Physician specialty and verification status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medical_profiles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Patient medical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consultations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Consult, reply, and severity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consultation_messages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Follow-up messages in the same consult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medical_files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Attached files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User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7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personal_access_tokens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Sanctum session tokens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Main Database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Database schema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6-db_01_image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8288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Functional modules and their Use Cases  (1/2)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261872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261872"/>
            <a:ext cx="109728" cy="1572768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35024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1)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72768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Secure access and password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828800"/>
            <a:ext cx="51663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UC-07 / UC-15   Register — patient or physician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UC-01   Login — email and password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UC-02 / UC-03   Reset / Change Password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UC-06   Logout — end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261872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261872"/>
            <a:ext cx="109728" cy="1572768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335024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2) User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572768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Role-specific profile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28800"/>
            <a:ext cx="51663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UC-04   Update Profile — medical or credentials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944368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944368"/>
            <a:ext cx="109728" cy="1572768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17520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3) Caregiver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55264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Consult on behalf of a relative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1296"/>
            <a:ext cx="51663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UC-08   Enable Caregiver Mode — relationship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944368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944368"/>
            <a:ext cx="109728" cy="1572768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017520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4) Physician Directory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255264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Choose a verified physician 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511296"/>
            <a:ext cx="51663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UC-09   Browse Physicians by specialty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UC-10   View Physician Details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626864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626864"/>
            <a:ext cx="109728" cy="1572768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700016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5) Consultations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937760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Consultation lifecycle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93792"/>
            <a:ext cx="51663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UC-11   Submit — general or directed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UC-13   View Status &amp; Response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UC-16 / UC-17   View / Take requests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UC-18 / UC-20   Patient details / medical reply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626864"/>
            <a:ext cx="5532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4626864"/>
            <a:ext cx="109728" cy="1572768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700016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6) Medical 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937760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Attachments linked to the consult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193792"/>
            <a:ext cx="51663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UC-12   Upload Reports — images/PDF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UC-19   View / Download Reports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Functional modules and their Use Cases  (2/2)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261872"/>
            <a:ext cx="5532120" cy="2414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261872"/>
            <a:ext cx="109728" cy="2414016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35024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7) Follow-up Messaging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72768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Follow-up after first reply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828800"/>
            <a:ext cx="516636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UC-14   Patient Follow-up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UC-21   Physician Follow-up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261872"/>
            <a:ext cx="5532120" cy="2414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261872"/>
            <a:ext cx="109728" cy="2414016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335024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8)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572768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In-app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28800"/>
            <a:ext cx="516636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UC-05   Receive Notifications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785616"/>
            <a:ext cx="5532120" cy="2414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785616"/>
            <a:ext cx="109728" cy="2414016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58768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9) Administration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96512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Admin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52544"/>
            <a:ext cx="516636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UC-23   Manage Users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UC-24   Disable / Enable Account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UC-25   Approve / Reject Physician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785616"/>
            <a:ext cx="5532120" cy="2414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785616"/>
            <a:ext cx="109728" cy="2414016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858768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10) Dashboards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096512"/>
            <a:ext cx="5166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Role workspace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352544"/>
            <a:ext cx="516636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Patient   Patient dashboard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Physician   Physician dashboard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Admin   Admin dashboard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Login and Account Interfaces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Login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59202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86893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8721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32354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Patient registration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63924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037076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Physician registration pending 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8646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527837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29666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41798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Password recovery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49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Patient Interfaces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Patient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18257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627985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646273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591409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Medical profile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82034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59176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61005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555186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Create consultation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45811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4555539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573827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518963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Consultation details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09588"/>
            <a:ext cx="11155680" cy="854049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551931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53760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482740"/>
            <a:ext cx="10149840" cy="7443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Notifications and follow-up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50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Physician and Admin Interfaces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Physician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59202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86893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8721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32354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Take a case and reply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63924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037076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Admin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8646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527837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29666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41798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Manage users and verify physicians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51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Chapter 7 —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Testing accompanied every increment, not left to the end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Four levels: unit, integration, usability, security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Result: the system works reliably and protects medical data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52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Unit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PHPUnit was used inside Laravel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57628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46735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48564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430780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Registration and validation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60776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27050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28879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233928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Token tests: requests without a token are rejected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63924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037076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Medical-profile tests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67072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487680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89508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840224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Consult creation: reject too-short descriptions; initial state Pending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70220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567994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69823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643372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Physician reply: only assigned physician can reply; then state becomes Completed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Integration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Trace the full consult lifecycle from creation to reply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59202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86893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8721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32354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File upload/retrieval integration with unauthorized access blocked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63924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037076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Permission control across different roles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8646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527837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29666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41798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On connection failure, users see a clear Arabic message — e.g. “Failed to connect to the server. Check your internet.”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Usability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Can users complete tasks easily?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8915400"/>
              </a:tblGrid>
              <a:tr h="113614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we verified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113614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Task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Users complete core tasks without technical help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3614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RTL layout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Arabic interface displays correctly right-to-left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113614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Mobile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Interface works well on small screens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3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Security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Protecting access, data, and permissions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810512"/>
          <a:ext cx="1143000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8915400"/>
              </a:tblGrid>
              <a:tr h="7574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Test type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we verified</a:t>
                      </a:r>
                    </a:p>
                  </a:txBody>
                  <a:tcPr>
                    <a:solidFill>
                      <a:srgbClr val="0B7A74"/>
                    </a:solidFill>
                  </a:tcPr>
                </a:tc>
              </a:tr>
              <a:tr h="7574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Reject access without a valid Sanctum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4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Passwords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Passwords stored as a hash only, never as plain text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7574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Authorization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Block role bypass: no cross-patient access; physicians reply only to assigned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4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Files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Private storage outside public; view/download only via protected API after login and authorization (link alone is not enough)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7574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Transport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23037"/>
                          </a:solidFill>
                          <a:latin typeface="Calibri"/>
                          <a:ea typeface="Calibri"/>
                          <a:cs typeface="Calibri"/>
                        </a:rPr>
                        <a:t>HTTPS protects data in transit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56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Chapter 8 —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Project achievements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Recommendations for stakeholders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•  Future development directions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What Did the Project Achieve?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A secure organized web platform for remote specialty consults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57628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46735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48564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430780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A practical alternative to informal channels like WhatsApp/Facebook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60776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27050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28879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233928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Full path: register, consult, attachments, reply, follow-up, physician 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63924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037076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Grounded in a local survey of 60+ participants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67072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487680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89508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840224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Maintainable extensible three-tier architecture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70220"/>
            <a:ext cx="11155680" cy="6934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567994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69823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643372"/>
            <a:ext cx="10149840" cy="5836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Tests confirmed function, usability, and security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For health institutions/NGOs: adopt organized telemedicine platforms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59202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86893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8721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32354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For medical institutions: formal physician-verification procedures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63924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07365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919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037076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For policymakers: support secure digital health solutions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8646"/>
            <a:ext cx="11155680" cy="10949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527837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29666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41798"/>
            <a:ext cx="10149840" cy="985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For future developers: make the platform easier to use, improve patient access, and add continuous monitoring of system performance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GazaCare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74980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E3DE"/>
                </a:solidFill>
                <a:latin typeface="Calibri"/>
                <a:ea typeface="Calibri"/>
                <a:cs typeface="Calibri"/>
              </a:rPr>
              <a:t>Chapter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2"/>
                </a:solidFill>
                <a:latin typeface="Calibri"/>
                <a:ea typeface="Calibri"/>
                <a:cs typeface="Calibri"/>
              </a:rPr>
              <a:t>University of Palestine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B7A74"/>
                </a:solidFill>
                <a:latin typeface="Calibri"/>
                <a:ea typeface="Calibri"/>
                <a:cs typeface="Calibri"/>
              </a:rPr>
              <a:t>59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63D42"/>
                </a:solidFill>
                <a:latin typeface="Calibri"/>
                <a:ea typeface="Calibri"/>
                <a:cs typeface="Calibri"/>
              </a:rPr>
              <a:t>Future Developments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Physician rating after completed consultations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21408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23113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4942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194560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Advanced physician search by specialty and ratings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688336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279806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81635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761488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Admin analytics for volume and response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255264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336499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38328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328416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Mobile app or Progressive Web App (PWA)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822192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3931920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950208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895344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English support while keeping Arabic primary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389120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4498848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51713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462272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Dark mode for visual comfort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956048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8368" y="5065776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08406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029200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Optional video consults in later versions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522976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368" y="5632704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65099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596128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AI assistance with the physician as final decision-maker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6089904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E6F4F3"/>
          </a:solidFill>
          <a:ln w="12700">
            <a:solidFill>
              <a:srgbClr val="D5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8368" y="6199632"/>
            <a:ext cx="438912" cy="384048"/>
          </a:xfrm>
          <a:prstGeom prst="round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621792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6163056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23037"/>
                </a:solidFill>
                <a:latin typeface="Calibri"/>
                <a:ea typeface="Calibri"/>
                <a:cs typeface="Calibri"/>
              </a:rPr>
              <a:t>Note: these are later-development ideas, not part of the current system.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8F3EF"/>
                </a:solidFill>
                <a:latin typeface="Calibri"/>
                <a:ea typeface="Calibri"/>
                <a:cs typeface="Calibri"/>
              </a:rPr>
              <a:t>GazaCare Connect — a secure structured remote consultation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 for listening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 welcome your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FC9C3"/>
                </a:solidFill>
                <a:latin typeface="Calibri"/>
                <a:ea typeface="Calibri"/>
                <a:cs typeface="Calibri"/>
              </a:rPr>
              <a:t>60 / 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