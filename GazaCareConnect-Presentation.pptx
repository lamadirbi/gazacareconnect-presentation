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12" r:id="rId63"/>
    <p:sldId id="318" r:id="rId69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63" Type="http://schemas.openxmlformats.org/officeDocument/2006/relationships/slide" Target="slides/slide49.xml"/><Relationship Id="rId69" Type="http://schemas.openxmlformats.org/officeDocument/2006/relationships/slide" Target="slides/slide50.xml"/><Relationship Id="rId74" Type="http://schemas.openxmlformats.org/officeDocument/2006/relationships/slide" Target="slides/slide51.xml"/><Relationship Id="rId75" Type="http://schemas.openxmlformats.org/officeDocument/2006/relationships/slide" Target="slides/slide52.xml"/><Relationship Id="rId76" Type="http://schemas.openxmlformats.org/officeDocument/2006/relationships/slide" Target="slides/slide53.xml"/><Relationship Id="rId77" Type="http://schemas.openxmlformats.org/officeDocument/2006/relationships/slide" Target="slides/slide54.xml"/><Relationship Id="rId78" Type="http://schemas.openxmlformats.org/officeDocument/2006/relationships/slide" Target="slides/slide55.xml"/><Relationship Id="rId79" Type="http://schemas.openxmlformats.org/officeDocument/2006/relationships/slide" Target="slides/slide56.xml"/><Relationship Id="rId80" Type="http://schemas.openxmlformats.org/officeDocument/2006/relationships/slide" Target="slides/slide57.xml"/><Relationship Id="rId81" Type="http://schemas.openxmlformats.org/officeDocument/2006/relationships/slide" Target="slides/slide58.xml"/><Relationship Id="rId82" Type="http://schemas.openxmlformats.org/officeDocument/2006/relationships/slide" Target="slides/slide59.xml"/><Relationship Id="rId83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جامعة فلسطين  —  قسم هندسة البرمجيات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0">
                <a:solidFill>
                  <a:srgbClr val="D8F3EF"/>
                </a:solidFill>
                <a:latin typeface="Sakkal Majalla"/>
                <a:ea typeface="Sakkal Majalla"/>
                <a:cs typeface="Sakkal Majalla"/>
              </a:rPr>
              <a:t>جسر طبي عن بُعد يربط مرضى قطاع غزة بأطباء متخصصين خارج المنطقة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جامعة فلسطين — قسم هندسة البرمجيات</a:t>
            </a:r>
          </a:p>
          <a:p>
            <a:pPr algn="r" rtl="1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مشروع تخرج للعام الدراسي 2025–2026</a:t>
            </a:r>
          </a:p>
          <a:p>
            <a:pPr algn="r" rtl="1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المشرف: د. فاطمة الرباعي</a:t>
            </a:r>
          </a:p>
          <a:p>
            <a:pPr algn="r" rtl="1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فريق العمل: لما الدربي · هلا الدربي · ديما أيوب · ريم سلامة · إسماعيل عبد العال · أحمد أبو شمالة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8FC9C3"/>
                </a:solidFill>
                <a:latin typeface="Calibri"/>
                <a:ea typeface="Calibri"/>
                <a:cs typeface="Calibri"/>
              </a:rPr>
              <a:t>1 / 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ترتيب العرض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الفصل 1: المشكلة والسياق والنطاق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56841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266569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284857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229993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الفصل 2: التقنيات وعيوب المنصات السابقة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59202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832354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الفصل 3: المنهجية ومراحل الـ Increment والاستبيان والمتطلبات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61563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3471291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3489579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434715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الفصل 4: حالات الاستخدام (Use Cases) للأدوار الثلاثة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963924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018520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037076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الفصل 5: مخططات UML بالتفصيل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566285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018520" y="4676013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4694301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639437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الفصل 6: التنفيذ والمعمارية والواجهات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168646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018520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18520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241798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الفصل 7: الاختبار والأمان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771007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018520" y="5880735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18520" y="5899023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44159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الفصل 8: الإنجازات والتوصيات والتطوير المستقبلي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40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الفصل الأول — المقدمة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الواقع الصحي في قطاع غزة هو نقطة الانطلاق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تُعرَّف مشكلة البحث بوضوح ودقة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تُوضَّح أهداف النظام ونطاقه وحدوده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ما الواقع الصحي الذي دفع إلى المشروع؟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نقص في الأطباء المتخصصين داخل قطاع غزة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18257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627985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646273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591409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ضغط مرتفع على المستشفيات والعيادات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82034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359176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361005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55186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صعوبة حصول المرضى على رأي طبي تخصصي في الوقت المناسب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45811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4555539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4573827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18963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لجوء كثير من المرضى إلى WhatsApp وFacebook لطلب نصيحة طبية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09588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018520" y="551931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553760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82740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هذه القنوات غير رسمية: بلا إشراف طبي منظم وبلا حماية كافية للخصوصية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مشكلة البحث والحل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المشكلة: غياب منصة إلكترونية آمنة ومنظمة ومتكاملة للاستشارة عن بُعد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59202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2354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الحل: GazaCare Connect كجسر رقمي رسمي بين المريض داخل غزة والطبيب خارجها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3924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37076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تدعم المنصة: التسجيل، الاستشارة النصية، رفع التقارير، المتابعة، وتوثيق الأطباء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8646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41798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النظام مخصّص للاستشارات غير الطارئة فقط، وليس بديلًا عن الطوارئ أو العيادة الحضورية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النطاق والحدود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353312"/>
          <a:ext cx="11430000" cy="5001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0"/>
                <a:gridCol w="2514600"/>
              </a:tblGrid>
              <a:tr h="1000353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التفاصيل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البند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1000353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مرضى داخل قطاع غزة وأطباء متخصصون خارج المنطقة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النطاق الجغرافي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0353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تسجيل، استشارة نصية، رفع ملفات، رد الطبيب، متابعة، إدارة وتوثيق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النطاق الوظيفي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1000353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منصة ويب: React / Next.js + Laravel + 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النطاق التقني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0356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ضعف الإنترنت · قيود قانونية · ليس للطوارئ · نتائج مرتبطة بسياق غزة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الحدود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40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الفصل الثاني — مراجعة الأدبيات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أولًا: التقنيات المستخدمة في بناء المنصة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ثانيًا: توثيق عيوب ثلاث منصات سابقة مرتبطة بغزة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التقنيات المستخدمة ولماذا؟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353312"/>
          <a:ext cx="114300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93776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دورها في المشروع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التقنية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المجال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تصميم الشاشات والنماذج التفاعلية (Prototypes) قبل البرمجة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Figma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تصميم الواجهات (UI/UX)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مخططات التدفق وUML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Edraw Max و Draw.io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النمذجة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واجهة خفيفة وسريعة تناسب ضعف الإنترنت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React.js و Next.js و TypeScript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الواجهة الأمامية (Frontend)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بناء الصفحات والتنسيق والاستجابة للشاشات (Responsive)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HTML5 و CSS3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هيكل الصفحات والتنسيق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كتابة الكود وإدارة إصدارات الفريق (Version 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VS Code و Git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أدوات التطوير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ملاءمة أمان البيانات الطبية عبر Authentication و Authorization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Laravel و PHP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الخادم (Backend)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تخزين المستخدمين والاستشارات والملفات الطبية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MySQL و phpMyAdmin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قاعدة البيانات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5349240"/>
            <a:ext cx="273405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2-tech_01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943" y="5422392"/>
            <a:ext cx="713689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044184"/>
            <a:ext cx="27340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1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React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5349240"/>
            <a:ext cx="273405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2-tech_02_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300" y="5422392"/>
            <a:ext cx="1072270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64408" y="6044184"/>
            <a:ext cx="27340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1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Next.js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5349240"/>
            <a:ext cx="273405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2-tech_03_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578" y="5422392"/>
            <a:ext cx="623011" cy="640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63056" y="6044184"/>
            <a:ext cx="27340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1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Laravel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5349240"/>
            <a:ext cx="273405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2-tech_04_image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6542" y="5422392"/>
            <a:ext cx="1244379" cy="640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61704" y="6044184"/>
            <a:ext cx="27340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1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MySQL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عيوب المنصات السابقة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المصدر: توثيق مباشر عبر لقطات شاشة للمنصات المذكورة.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0"/>
                <a:gridCol w="2514600"/>
              </a:tblGrid>
              <a:tr h="1136142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العيب الأساسي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المنصة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1136142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عند ارتفاع الطلب يُغلق نموذج الاستشارة بالكامل؛ لا توجد قائمة استشارة عامة، بل نموذج مغلق فقط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Gxza 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36142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لا توجد استشارة مباشرة داخل المنصة؛ يمر المريض أولًا عبر Telegram ثم رابط تسجيل منفصل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MENA Health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1136142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الموقع الرسمي متوقف بالكامل؛ متبقي Instagram فقط، وفي الـ bio رابط معطل للموقع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Heal Gaza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40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الفصل الثالث — منهجية البحث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المنهجية المعتمدة: النموذج التزايدي (Incremental Model)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الاستبيان الميداني ونتائجه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تحويل نتائج الاستبيان إلى متطلبات نظام (Requirements)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لماذا Incremental Model؟ وما مراحله؟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يوفر نموذجًا أوليًا وظيفيًا مبكرًا (Prototype) يمكن تجربته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18257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627985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646273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591409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يدمج ملاحظات المستخدمين في كل زيادة (Increment)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82034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359176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361005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55186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يساعد على إدارة المخاطر التقنية مبكرًا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45811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4555539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4573827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18963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يرتب أولويات الميزات الجوهرية قبل الثانوية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09588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018520" y="551931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553760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82740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كل زيادة تمر بـ: Analysis → Design → Implementation →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مقارنة مراحل كل زيادة (Increment)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كل Increment تمر بأربع مراحل — وهذه أهمية كل مرحلة  ·  ملاحظة: المراحل الأربع تتكرر داخل كل زيادة، وليست دورة واحدة لنهاية المشروع فقط.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908913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لماذا مهمة؟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ماذا يحدث؟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المرحلة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908913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تضمن أن الميزات مبنية على حاجة حقيقية للمستخدمين لا على افتراضات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تحديد الأدوار والاحتياجات وفحص القنوات غير الرسمية مثل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8913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تقلل الأخطاء لاحقًا وتوضح هيكل النظام للفريق قبل التنفيذ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تصميم الواجهات ومخططات UML وقاعدة البيانات قبل البرمجة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Design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908913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تحويل التصميم إلى نظام قابل للتجربة مبكرًا داخل كل Increment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بناء الجزء الوظيفي من الزيادة برمجيًا (Frontend / Backend / Database)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8916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تكتشف المشاكل مبكرًا قبل الانتقال للزيادة التالية وتدعم موثوقية النظام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اختبار الوحدة والتكامل والأمان وقابلية الاستخدام للزيادة الحالية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Testing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من الاستبيان إلى قرار التصميم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353312"/>
          <a:ext cx="11430000" cy="5001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8336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ماذا قررنا في النظام؟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النسبة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ماذا وجدنا؟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سؤال الاستبيان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8336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بناء بيئة موثّقة بدل القنوات غير الرسمية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قنوات غير رسمية (Facebook/WhatsApp 52% + معارف 38%)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ما القنوات المستخدمة حاليًا لطلب استشارة طبية؟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36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حماية قوية للملفات مع Authentication و Authorization، واختيار Laravel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94%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أكد أغلب المشاركين أن سرية بياناتهم مهمة جدًا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هل مهم بالنسبة لك أن تكون بياناتك سرية؟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8336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واجهة خفيفة واستشارة غير متزامنة (Asynchronous) باستخدام Next.js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ضعف الإنترنت عائق أساسي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ما أبرز العوائق التقنية أمام استخدام المنصة؟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36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إضافة وضع مرافق المريض (Caregiver Mode)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60%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نسبة كبيرة من المشاركين مرافقو مرضى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هل المشارك مريض أم مرافق مريض؟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8336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التركيز على استشارات تخصصية بسيطة ومنظمة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أصعب الوصول: استشارات جلدية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أي التخصصات أصعب وصولًا؟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من الاستبيان إلى قرار التصميم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توزيع الاحتياجات الطبية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3-survey_01_image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935" y="1828800"/>
            <a:ext cx="73596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من الاستبيان إلى قرار التصميم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قنوات التواصل الحالية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3-survey_02_image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276" y="1828800"/>
            <a:ext cx="625096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من الاستبيان إلى قرار التصميم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أهمية تشفير التقارير الطبية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3-survey_03_image2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636" y="1828800"/>
            <a:ext cx="622624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من الاستبيان إلى قرار التصميم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العوائق التقنية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3-survey_04_image2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417" y="1828800"/>
            <a:ext cx="985468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من الاستبيان إلى قرار التصميم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نوع المشاركين: مريض / مرافق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3-survey_05_image2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611" y="1828800"/>
            <a:ext cx="858229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المتطلبات المشتركة لكل الأدوار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بدأنا بتحديد المتطلبات الوظيفية (Functional) وغير الوظيفية (Non-functional)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20240"/>
            <a:ext cx="11155680" cy="63246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018520" y="202996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204825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993392"/>
            <a:ext cx="10149840" cy="522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RQ-01: تسجيل الدخول الآمن عبر البريد وكلمة المرور (Login)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62428"/>
            <a:ext cx="11155680" cy="6324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018520" y="277215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18520" y="279044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735580"/>
            <a:ext cx="10149840" cy="522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RQ-02 و RQ-03: إعادة تعيين كلمة المرور وتغييرها من الإعدادات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04616"/>
            <a:ext cx="11155680" cy="63246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018520" y="351434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353263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477768"/>
            <a:ext cx="10149840" cy="522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RQ-04: تحديث الملف الشخصي (Profile) — بيانات شخصية/طبية للمريض، وتخصص/اعتماد للطبيب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146804"/>
            <a:ext cx="11155680" cy="6324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018520" y="425653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18520" y="427482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19956"/>
            <a:ext cx="10149840" cy="522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RQ-05: استقبال إشعارات داخل المنصة (Notifications): توثيق، إسناد، رد، متابعة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88992"/>
            <a:ext cx="11155680" cy="63246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018520" y="499872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501700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962144"/>
            <a:ext cx="10149840" cy="522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RQ-06: تسجيل الخروج وإنهاء الجلسة (Logout / Session)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631180"/>
            <a:ext cx="11155680" cy="6324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1018520" y="57409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18520" y="57591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704332"/>
            <a:ext cx="10149840" cy="522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هذه المتطلبات المشتركة RQ-01 إلى RQ-06 لكل من المريض والطبيب والمسؤول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متطلبات كل دور بالتفصيل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متطلبات غير وظيفية (Non-functional): أمان عالٍ · واجهة عربية RTL · أداء مناسب تحت ضعف الشبكة · موثوقية واستقرار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المسؤول (Admin)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الطبيب (Physician)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المريض (Patient)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RQ-23 إدارة المستخدمين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RQ-15 التسجيل بانتظار توثيق المسؤول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RQ-07 تسجيل حساب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RQ-24 تعطيل أو تفعيل الحسابات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RQ-16 عرض طلبات الاستشارة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RQ-08 تفعيل Caregiver Mode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RQ-25 قبول أو رفض توثيق الأطباء مع إشعار النتيجة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RQ-17 استلام استشارة عامة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RQ-09/RQ-10 تصفح الأطباء الموثّقين وعرض تفاصيلهم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/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RQ-18/RQ-19 عرض بيانات المريض والمرفقات الطبية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RQ-11 تقديم استشارة نصية (عامة أو موجهة لطبيب محدد)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RQ-20 إرسال الرد مع تصنيف Mild (بسيطة) / Moderate (متوسطة) / Critical (حرجة)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RQ-12 رفع مرفقات طبية مع الاستشارة (صور/PDF)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/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RQ-21 رسالة متابعة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RQ-13 متابعة حالة الاستشارة ورد الطبيب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RQ-22 عرض الحالات السابقة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RQ-14 إرسال رسالة متابعة بعد الرد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40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الفصل الرابع — حالات الاستخدام (Use Cases)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كل UC مربوطة 1:1 بمتطلب RQ بنفس الرقم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نعرض مثالًا واحدًا مهمًا لكل مجموعة بجدول التوثيق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المشترك UC-01 إلى UC-06 · المريض UC-07 إلى UC-14 · الطبيب UC-15 إلى UC-22 · المسؤول UC-23 إلى UC-25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مثال مشترك: UC-01 / RQ-01 —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أهم حالة مشتركة — المجموعة UC-01 إلى UC-06  ·  باقي المشترك باختصار: UC-02 Reset Password · UC-03 Change Password · UC-04 Update Profile · UC-05 Notifications · UC-06 Logout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0"/>
                <a:gridCol w="2514600"/>
              </a:tblGrid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التفاصيل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الحقل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UC-01 / RQ-01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Use Case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تسجيل الدخول (Login)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Use Case Name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Patient, Physician, and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يدخل المستخدم إلى النظام عبر البريد وكلمة المرور.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Description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يوجد حساب مسبق، والحساب غير معطّل.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Precondition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1. يفتح صفحة Login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2. يدخل البريد وكلمة المرور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3. يتحقق النظام من البيانات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4. يُوجَّه إلى لوحة الدور المناسب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Basic Flow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a. بيانات خاطئة ← رسالة خطأ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b. حساب معطّل ← رفض الوصول (Access denied)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c. نسيان كلمة المرور ← التحويل إلى Reset Password (UC-02)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Alternate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المستخدم موثّق ومسجّل دخوله في النظام.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Postcondition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مثال المريض: UC-11 / RQ-11 — تقديم استشارة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أهم حالة للمريض — المجموعة UC-07 إلى UC-14  ·  باقي المريض باختصار: UC-07 تسجيل · UC-08 Caregiver Mode · UC-09/10 تصفح الأطباء · UC-12 مرفقات · UC-13 حالة الاستشارة · UC-14 Follow-up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0"/>
                <a:gridCol w="2514600"/>
              </a:tblGrid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التفاصيل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الحقل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UC-11 / RQ-11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Use Case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تقديم استشارة (Submit Consultation)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Use Case Name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Patient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يقدّم المريض استشارة نصية: استشارة عامة أو موجهة لطبيب محدد.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Description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المريض مسجّل الدخول.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Precondition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1. يفتح New Consultation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2. يكتب السؤال الطبي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3. يختار استشارة عامة أو موجهة لطبيب محدد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4. إن كانت موجهة: يختار طبيبًا موثّقًا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5. يرفق ملفات اختياريًا (حد أقصى 20 ملفًا)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6. يرسل الطلب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7. يخزّن النظام الحالة Pending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Basic Flow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a. سؤال غير صالح/قصير ← خطأ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b. موجهة بدون اختيار طبيب ← خطأ تحقق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c. الطبيب غير متاح ← رسالة خطأ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Alternate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استشارة جديدة بانتظار تعامل الطبيب.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Postcondition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مثال الطبيب: UC-20 / RQ-20 — التوصية الطبية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أهم حالة للطبيب — المجموعة UC-15 إلى UC-22  ·  باقي الطبيب باختصار: UC-15 تسجيل · UC-16 عرض الطلبات · UC-17 استلام عامة · UC-18/19 بيانات ومرفقات · UC-21 Follow-up · UC-22 حالات سابقة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0"/>
                <a:gridCol w="2514600"/>
              </a:tblGrid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التفاصيل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الحقل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UC-20 / RQ-20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Use Case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إرسال التوصية الطبية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Use Case Name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Physician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يرسل الطبيب ردًا طبيًا مع تصنيف الشدة، ويمكنه إنهاء الاستشارة.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Description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الاستشارة مسندة لطبيب موثّق.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Precondition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1. يكتب التوصية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2. يختار الشدة: Mild (بسيطة) / Moderate (متوسطة) / Critical (حرجة)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3. يمكنه تعليمها كمكتملة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4. يرسل الرد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5. يُشعر النظام المريض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Basic Flow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a. نقص التوصية أو التصنيف ← خطأ تحقق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Alternate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أُرسلت التوصية وتحدّثت حالة الاستشارة.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Postcondition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مثال المسؤول: UC-25 / RQ-25 — توثيق الطبيب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أهم حالة للمسؤول — المجموعة UC-23 إلى UC-25  ·  باقي المسؤول باختصار: UC-23 إدارة المستخدمين · UC-24 تعطيل/تفعيل الحساب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0"/>
                <a:gridCol w="2514600"/>
              </a:tblGrid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التفاصيل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الحقل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UC-25 / RQ-25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Use Case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قبول/رفض توثيق الطبيب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Use Case Name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يراجع الـ Admin طلبات توثيق الأطباء ويقبلها أو يرفضها مع إشعار النتيجة.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Description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يوجد طبيب واحد على الأقل بانتظار التوثيق.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Precondition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1. يفتح صفحة الأطباء المعلّقين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2. يراجع التخصص والشهادات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3. يقبل أو يرفض</a:t>
                      </a:r>
                    </a:p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4. يحدّث النظام الحالة ويُشعر الطبيب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Basic Flow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a. لا طلبات معلّقة ← قائمة فارغة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Alternate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طبيب موثّق (يتعامل مع الاستشارات) أو مرفوض مع السبب وإمكانية إعادة التقديم.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Postcondition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86868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مسار الاستشارة: عامة وموجهة لطبيب محدد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115568"/>
            <a:ext cx="1131387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0B7A74"/>
                </a:solidFill>
                <a:latin typeface="Sakkal Majalla"/>
                <a:ea typeface="Sakkal Majalla"/>
                <a:cs typeface="Sakkal Majalla"/>
              </a:rPr>
              <a:t>خطوات مشتركة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757" y="1426464"/>
            <a:ext cx="3564026" cy="1170432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5875">
            <a:solidFill>
              <a:srgbClr val="0F8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r" rtl="1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  ·  UC-11 / RQ-11</a:t>
            </a:r>
          </a:p>
          <a:p>
            <a:pPr algn="r" rtl="1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تقديم الاستشارة النصية</a:t>
            </a:r>
          </a:p>
          <a:p>
            <a:pPr algn="r" rtl="1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المريض يكتب السؤال ويختار عامة أو موجّهة ثم يرسل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3834" y="1426464"/>
            <a:ext cx="3564026" cy="1170432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5875">
            <a:solidFill>
              <a:srgbClr val="0F8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r" rtl="1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  ·  UC-12 / RQ-12</a:t>
            </a:r>
          </a:p>
          <a:p>
            <a:pPr algn="r" rtl="1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رفع المرفقات الطبية</a:t>
            </a:r>
          </a:p>
          <a:p>
            <a:pPr algn="r" rtl="1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صور أو PDF اختياريًا لدعم التشخيص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426464"/>
            <a:ext cx="3564026" cy="1170432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5875">
            <a:solidFill>
              <a:srgbClr val="0F8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r" rtl="1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  ·  Pending</a:t>
            </a:r>
          </a:p>
          <a:p>
            <a:pPr algn="r" rtl="1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بانتظار الطبيب</a:t>
            </a:r>
          </a:p>
          <a:p>
            <a:pPr algn="r" rtl="1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الاستشارة معلّقة حتى يرد طبيب موثّق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7932725" y="1947672"/>
            <a:ext cx="201168" cy="128016"/>
          </a:xfrm>
          <a:prstGeom prst="leftArrow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ft Arrow 15"/>
          <p:cNvSpPr/>
          <p:nvPr/>
        </p:nvSpPr>
        <p:spPr>
          <a:xfrm>
            <a:off x="4057802" y="1947672"/>
            <a:ext cx="201168" cy="128016"/>
          </a:xfrm>
          <a:prstGeom prst="leftArrow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5995263" y="2633472"/>
            <a:ext cx="201168" cy="146304"/>
          </a:xfrm>
          <a:prstGeom prst="downArrow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798064"/>
            <a:ext cx="1131387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C4782A"/>
                </a:solidFill>
                <a:latin typeface="Sakkal Majalla"/>
                <a:ea typeface="Sakkal Majalla"/>
                <a:cs typeface="Sakkal Majalla"/>
              </a:rPr>
              <a:t>تفرع حسب نوع الاستشارة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072384"/>
            <a:ext cx="5528919" cy="1115568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5875">
            <a:solidFill>
              <a:srgbClr val="0F8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r" rtl="1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UC-17 / RQ-17</a:t>
            </a:r>
          </a:p>
          <a:p>
            <a:pPr algn="r" rtl="1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استشارة عامة</a:t>
            </a:r>
          </a:p>
          <a:p>
            <a:pPr algn="r" rtl="1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تدخل قائمة مشتركة، وأي طبيب موثّق يستلمها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3072384"/>
            <a:ext cx="5528919" cy="1115568"/>
          </a:xfrm>
          <a:prstGeom prst="roundRect">
            <a:avLst>
              <a:gd name="adj" fmla="val 8000"/>
            </a:avLst>
          </a:prstGeom>
          <a:solidFill>
            <a:srgbClr val="FFF6EA"/>
          </a:solidFill>
          <a:ln w="20320">
            <a:solidFill>
              <a:srgbClr val="C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r" rtl="1"/>
            <a:r>
              <a:rPr sz="1200" b="1">
                <a:solidFill>
                  <a:srgbClr val="C4782A"/>
                </a:solidFill>
                <a:latin typeface="Calibri"/>
                <a:ea typeface="Calibri"/>
                <a:cs typeface="Calibri"/>
              </a:rPr>
              <a:t>بدون UC-17</a:t>
            </a:r>
          </a:p>
          <a:p>
            <a:pPr algn="r" rtl="1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استشارة موجّهة لطبيب محدد</a:t>
            </a:r>
          </a:p>
          <a:p>
            <a:pPr algn="r" rtl="1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الطلب يصل مباشرة للطبيب الذي اختاره المريض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102787" y="4206240"/>
            <a:ext cx="201168" cy="146304"/>
          </a:xfrm>
          <a:prstGeom prst="downArrow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8887738" y="4206240"/>
            <a:ext cx="201168" cy="146304"/>
          </a:xfrm>
          <a:prstGeom prst="downArrow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4370832"/>
            <a:ext cx="1131387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0B7A74"/>
                </a:solidFill>
                <a:latin typeface="Sakkal Majalla"/>
                <a:ea typeface="Sakkal Majalla"/>
                <a:cs typeface="Sakkal Majalla"/>
              </a:rPr>
              <a:t>يلتقي المساران ويكملان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3863" y="4626864"/>
            <a:ext cx="5528919" cy="1078992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5875">
            <a:solidFill>
              <a:srgbClr val="0F8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r" rtl="1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  ·  UC-20 / RQ-20</a:t>
            </a:r>
          </a:p>
          <a:p>
            <a:pPr algn="r" rtl="1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إرسال الرد الطبي</a:t>
            </a:r>
          </a:p>
          <a:p>
            <a:pPr algn="r" rtl="1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التوصية مع تصنيف الحالة: بسيطة / متوسطة / حرجة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4626864"/>
            <a:ext cx="5528919" cy="1078992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5875">
            <a:solidFill>
              <a:srgbClr val="0F8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r" rtl="1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  ·  UC-14 + UC-21</a:t>
            </a:r>
          </a:p>
          <a:p>
            <a:pPr algn="r" rtl="1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المتابعة بعد أول رد</a:t>
            </a:r>
          </a:p>
          <a:p>
            <a:pPr algn="r" rtl="1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المريض والطبيب يكملان النقاش داخل نفس الاستشارة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5995263" y="5102352"/>
            <a:ext cx="201168" cy="128016"/>
          </a:xfrm>
          <a:prstGeom prst="leftArrow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قواعد التوثيق والصلاحيات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تسلسل واضح من تسجيل الطبيب حتى التوثيق والصلاحيات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20240"/>
            <a:ext cx="11155680" cy="780897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018520" y="202996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204825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993392"/>
            <a:ext cx="10149840" cy="6711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7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UC-15 / RQ-15 (تسجيل الطبيب) — الطبيب الجديد ينشئ حسابًا ويبقى في حالة Pending Verification (بانتظار التوثيق)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10865"/>
            <a:ext cx="11155680" cy="7808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018520" y="2920593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18520" y="2938881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84017"/>
            <a:ext cx="10149840" cy="6711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7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قبل اعتماد UC-25 / RQ-25 (قبول أو رفض توثيق الأطباء): الطبيب يرى اللوحة فقط، ولا يستخدم UC-17 / RQ-17 (استلام استشارة عامة) ولا UC-20 / RQ-20 (إرسال الرد الطبي)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01490"/>
            <a:ext cx="11155680" cy="780897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018520" y="381121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382950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74642"/>
            <a:ext cx="10149840" cy="6711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UC-25 / RQ-25 (قبول التوثيق من الـ Admin) — بعد القبول تُفعَّل للطبيب صلاحيات الاستلام والرد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92115"/>
            <a:ext cx="11155680" cy="7808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018520" y="4701843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18520" y="4720131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665267"/>
            <a:ext cx="10149840" cy="6711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عند الرفض عبر UC-25 / RQ-25 (رفض التوثيق مع ذكر السبب): يمكن للطبيب إعادة التقديم لاحقًا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482740"/>
            <a:ext cx="11155680" cy="780897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018520" y="559246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561075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555892"/>
            <a:ext cx="10149840" cy="6711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UC-24 / RQ-24 (تعطيل أو تفعيل الحساب) — تعطيل الحساب يمنع الدخول إلى الميزات المحمية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40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الفصل الخامس — النمذجة والتصميم (UML)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وُضعت خريطة UML واضحة للنظام قبل مرحلة البرمجة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تشمل المخططات: Activity Diagram و Use Case Diagram و Sequence Diagram و Class Diagram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تشكّل هذه المخططات الأساس المباشر للتنفيذ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Activity Diagram و Use Case Diagram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Activity Diagram يوضح مسار الاستشارة من البداية إلى النهاية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59202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2354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يظهر تفرّع المسارات حسب الدور: Patient, Physician, and Admin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3924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37076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Use Case Diagram يحدد الـ Actors الثلاثة ووظائفهم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8646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41798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Actors: Patient, Physician, and Admin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Activity Diagram و Use Case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مخطط النشاط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activity_01_imag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874" y="1828800"/>
            <a:ext cx="616977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Activity Diagram و Use Case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مخطط حالات الاستخدام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activity_02_image2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607" y="1828800"/>
            <a:ext cx="587630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مخططات التسلسل السبعة — باختصار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كل صف يوضح العملية بين الواجهة والخادم وقاعدة البيانات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إذا فشل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إذا نجح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ماذا يحدث؟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العملية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البريد مستخدم مسبقًا ← رسالة خطأ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يُنشأ الحساب ويدخل تلقائيًا للوحة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المستخدم يملأ النموذج، والواجهة ترسل البيانات للخادم ثم لقاعدة البيانات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1) التسجيل (Register)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بيانات خاطئة أو حساب معطّل ← رفض الدخول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الانتقال إلى لوحة الدور المناسب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إدخال البريد وكلمة المرور والتحقق منهما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2) تسجيل الدخول (Login)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البريد غير موجود ← رسالة فشل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تحديث كلمة المرور بنجاح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طلب رابط عبر البريد ثم تعيين كلمة جديدة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3) استعادة كلمة المرور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بيانات غير صالحة ← رسالة خطأ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ظهور رسالة نجاح التحديث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جلب البيانات الحالية ثم حفظ التعديلات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4) تحديث الملف الطبي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سؤال ناقص أو طبيب غير محدد ← خطأ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حفظ الاستشارة بحالة 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كتابة السؤال واختيار عامة أو موجهة لطبيب، مع مرفقات اختيارية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5) إنشاء استشارة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الحالة مستلمة مسبقًا أو نقص التصنيف ← خطأ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وصول الرد للمريض مع Mild / Moderate / Critical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استلام الحالة ثم كتابة الرد مع تصنيف الشدة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6) رد الطبيب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لا يوجد مسار فشل رئيسي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العودة إلى صفحة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إنهاء الجلسة وحذف رمز الدخول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7) تسجيل الخروج (Logout)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مخططات UML للتسلسل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مخطط التسلسل 1 — التسجيل (Register)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1_image2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896" y="1828800"/>
            <a:ext cx="638572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مخططات UML للتسلسل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مخطط التسلسل 2 — تسجيل الدخول (Login)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2_image3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299" y="1828800"/>
            <a:ext cx="508692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مخططات UML للتسلسل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مخطط التسلسل 3 — استعادة كلمة المرور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3_image3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828800"/>
            <a:ext cx="4160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مخططات UML للتسلسل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مخطط التسلسل 4 — تحديث الملف الطبي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4_image3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640" y="1828800"/>
            <a:ext cx="415623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مخططات UML للتسلسل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مخطط التسلسل 5 — إنشاء استشارة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5_image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716" y="1828800"/>
            <a:ext cx="480208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مخططات UML للتسلسل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مخطط التسلسل 6 — رد الطبيب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6_image3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253" y="1828800"/>
            <a:ext cx="434701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مخططات UML للتسلسل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مخطط التسلسل 7 — تسجيل الخروج (Logout)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7_image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637" y="1828800"/>
            <a:ext cx="830224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مخطط الأصناف (Class Diagram)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User هو الصنف الأساسي لثلاثة أدوار: Patient, Physician, and Admin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57628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46735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48564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430780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Consultation ترتبط بالملفات الطبية (Medical Files) ورسائل المتابعة (Follow-up Messages)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60776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327050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328879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33928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أحداث الاستشارة تولّد Notifications: إسناد الحالة، رد الطبيب، ورسالة متابعة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63924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37076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شدة الحالة (Case Severity): Mild (بسيطة) / Moderate (متوسطة) / Critical (حرجة)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67072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018520" y="487680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489508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40224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وضع الإسناد (Assignment Mode): استشارة عامة أو استشارة موجهة لطبيب محدد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70220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018520" y="567994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569823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643372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هذا المخطط يمهّد مباشرة لجداول MySQL في التنفيذ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مخطط الأصناف (Class Diagram)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مخطط الأصناف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class_01_image3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118" y="1828800"/>
            <a:ext cx="570328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40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الفصل السادس — التنفيذ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يبيّن الفصل تنفيذ التصميم على منصة ويب فعلية تعمل بالكامل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المعمارية ثلاثية الطبقات (Three-Tier): Frontend و Laravel Backend و MySQL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وتُنفَّذ عبر Modules وظيفية، مع عرض واجهات كل دور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كيف بُني النظام؟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طبقة العرض (Presentation): React.js و Next.js و TypeScript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18257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627985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646273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591409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طبقة التطبيق (Application): Laravel و PHP مع REST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82034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359176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361005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55186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طبقة البيانات (Data): MySQL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45811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4555539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4573827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18963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المصادقة (Authentication): Laravel Sanctum عبر Token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09588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018520" y="551931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553760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82740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الصلاحيات (Authorization) عبر Middleware حسب الدور: Patient / Physician / Admin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أهم جداول قاعدة البيانات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353312"/>
          <a:ext cx="11430000" cy="5001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0"/>
                <a:gridCol w="2514600"/>
              </a:tblGrid>
              <a:tr h="5557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وظيفته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الجدول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حسابات كل الأدوار مع حقل role موحّد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تخصص الطبيب وحالة التوثيق (Verification Status)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physician_profiles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الملف الطبي للمريض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medical_profiles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الاستشارة والرد وشدة الحالة (Case Severity)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consultations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رسائل المتابعة (Follow-up) داخل نفس الاستشارة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consultation_messages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الملفات المرفقة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medical_files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إشعارات المستخدمين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رموز Sanctum للجلسات (Sessions)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personal_access_tokens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أهم جداول قاعدة البيانات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مخطط قاعدة البيانات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6-db_01_image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8288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الوحدات الوظيفية وعلاقات الـ Use Cases  (1/2)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261872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261872"/>
            <a:ext cx="109728" cy="1572768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35024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1)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72768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أمن الدخول والخروج وإدارة كلمة المرور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828800"/>
            <a:ext cx="51663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UC-07 / UC-15   Register — حساب مريض أو طبيب</a:t>
            </a:r>
          </a:p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UC-01   Login — بريد وكلمة مرور</a:t>
            </a:r>
          </a:p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UC-02 / UC-03   Reset / Change Password</a:t>
            </a:r>
          </a:p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UC-06   Logout — إنهاء الجلسة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261872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261872"/>
            <a:ext cx="109728" cy="1572768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335024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2) User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572768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إدارة بيانات الملف حسب الدور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28800"/>
            <a:ext cx="51663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UC-04   Update Profile — طبي/شخصي أو تخصص/اعتماد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944368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944368"/>
            <a:ext cx="109728" cy="1572768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17520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3) Caregiver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55264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الاستشارة نيابة عن قريب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1296"/>
            <a:ext cx="51663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UC-08   Enable Caregiver Mode — صلة القرابة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944368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944368"/>
            <a:ext cx="109728" cy="1572768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017520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4) Physician Directory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255264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اختيار طبيب موثّق قبل الاستشارة الموجهة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511296"/>
            <a:ext cx="51663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UC-09   Browse Physicians — حسب التخصص</a:t>
            </a:r>
          </a:p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UC-10   View Physician Details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626864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626864"/>
            <a:ext cx="109728" cy="1572768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700016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5) Consultations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37760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دورة حياة الاستشارة من التقديم حتى الرد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93792"/>
            <a:ext cx="51663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UC-11   Submit — عامة أو موجهة</a:t>
            </a:r>
          </a:p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UC-13   View Status &amp; Response</a:t>
            </a:r>
          </a:p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UC-16 / UC-17   View / Take requests</a:t>
            </a:r>
          </a:p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UC-18 / UC-20   بيانات المريض / الرد مع التصنيف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626864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4626864"/>
            <a:ext cx="109728" cy="1572768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700016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6) Medical 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937760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المرفقات الطبية المرتبطة بالاستشارة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193792"/>
            <a:ext cx="51663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UC-12   Upload Reports — صور/PDF</a:t>
            </a:r>
          </a:p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UC-19   View / Download Reports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الوحدات الوظيفية وعلاقات الـ Use Cases  (2/2)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261872"/>
            <a:ext cx="5532120" cy="2414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261872"/>
            <a:ext cx="109728" cy="2414016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35024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7) Follow-up Messaging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72768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متابعة نصية بعد أول رد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828800"/>
            <a:ext cx="516636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UC-14   Patient Follow-up</a:t>
            </a:r>
          </a:p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UC-21   Physician Follow-up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261872"/>
            <a:ext cx="5532120" cy="2414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261872"/>
            <a:ext cx="109728" cy="2414016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335024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8)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572768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تنبيهات داخل المنصة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28800"/>
            <a:ext cx="516636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UC-05   Receive Notifications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785616"/>
            <a:ext cx="5532120" cy="2414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785616"/>
            <a:ext cx="109728" cy="2414016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58768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9) Administration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96512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صلاحيات المسؤول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52544"/>
            <a:ext cx="516636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UC-23   Manage Users</a:t>
            </a:r>
          </a:p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UC-24   Disable / Enable Account</a:t>
            </a:r>
          </a:p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UC-25   Approve / Reject Physician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785616"/>
            <a:ext cx="5532120" cy="2414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785616"/>
            <a:ext cx="109728" cy="2414016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858768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10) Dashboards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096512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واجهة عمل لكل دور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352544"/>
            <a:ext cx="516636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Patient   لوحة المريض</a:t>
            </a:r>
          </a:p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Physician   لوحة الطبيب</a:t>
            </a:r>
          </a:p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Admin   لوحة المسؤول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واجهات الدخول والحساب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تسجيل الدخول (Login)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59202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2354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تسجيل المريض (Patient Register)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3924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37076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تسجيل الطبيب مع انتظار التوثيق (Pending Verification)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8646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41798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استعادة كلمة المرور (Reset Password)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واجهات المريض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لوحة المريض (Patient Dashboard)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18257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627985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646273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591409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الملف الطبي (Medical Profile)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82034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359176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361005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55186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إنشاء استشارة (Create Consultation)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45811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4555539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4573827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18963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تفاصيل الاستشارة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09588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018520" y="551931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553760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82740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الإشعارات والمتابعة (Notifications / Follow-up)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واجهات الطبيب والمسؤول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لوحة الطبيب (Physician Dashboard)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59202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2354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استلام حالة والرد عليها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3924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37076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لوحة المسؤول (Admin Dashboard)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8646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41798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إدارة المستخدمين وتوثيق الأطباء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40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الفصل السابع — الاختبار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رافق الاختبار كل زيادة تطوير (Increment) ولم يُترك للنهاية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أربعة مستويات: Unit Testing و Integration Testing و Usability Testing و Security Testing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أثبتت النتائج أن النظام يعمل بموثوقية ويحمي البيانات الطبية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اختبار الوحدة (Unit Testing)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استُخدم PHPUnit داخل Laravel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57628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46735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48564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430780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اختبار التسجيل والتحقق من البيانات (Validation)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60776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327050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328879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33928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اختبار الـ Token: الطلب بلا Token يُرفض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63924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37076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اختبار الملف الطبي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67072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018520" y="487680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489508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40224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اختبار إنشاء الاستشارة: رفض الوصف القصير جدًا، والحالة الابتدائية Pending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70220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018520" y="567994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569823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643372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اختبار رد الطبيب: فقط الطبيب المسند يمكنه الرد، ثم تتحول الحالة إلى Completed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اختبار التكامل (Integration Testing)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تتبّع دورة حياة الاستشارة كاملة من الإنشاء حتى الرد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59202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2354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تكامل رفع الملفات واسترجاعها مع منع الوصول غير المصرّح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3924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37076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التحكم بالصلاحيات (Authorization) بين الأدوار المختلفة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8646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41798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عند فشل الاتصال تظهر رسالة عربية مفهومة — مثلًا: «فشل الاتصال بالخادم. تحقق من الإنترنت.»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قابلية الاستخدام (Usability)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هل يستطيع المستخدم إنجاز المهام بسهولة؟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0"/>
                <a:gridCol w="2514600"/>
              </a:tblGrid>
              <a:tr h="1136142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ماذا تحققنا؟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البند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1136142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المستخدم ينجز المهام الأساسية بدون مساعدة تقنية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إنجاز المهام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36142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صحة عرض الواجهة العربية من اليمين لليسار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الاتجاه RTL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1136142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الواجهة تعمل بشكل مناسب على الشاشات الصغيرة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التوافق مع الجوال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الأمان (Security)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حماية الدخول والبيانات والصلاحيات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0"/>
                <a:gridCol w="2514600"/>
              </a:tblGrid>
              <a:tr h="757428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ماذا تحققنا؟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نوع الاختبار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757428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رفض الدخول بلا Token صالح عبر Sanctum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428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تخزين كلمات المرور كـ hash فقط، بلا نص صريح (Plain Text)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كلمات المرور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757428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منع تجاوز الأدوار: مريض لا يصل لبيانات مريض آخر، وطبيب لا يرد على حالة غيره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Authorization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428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تخزين خاص خارج public؛ العرض/التحميل عبر Protected API بعد Login والتحقق من الصلاحية (الرابط وحده لا يكفي)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الملفات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757428"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استخدام HTTPS لحماية البيانات أثناء النقل (In Transit)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500" b="0">
                          <a:solidFill>
                            <a:srgbClr val="123037"/>
                          </a:solidFill>
                          <a:latin typeface="Sakkal Majalla"/>
                          <a:ea typeface="Sakkal Majalla"/>
                          <a:cs typeface="Sakkal Majalla"/>
                        </a:rPr>
                        <a:t>النقل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40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الفصل الثامن — الخاتمة والتوصيات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ملخص ما أُنجز في المشروع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التوصيات الموجّهة لأصحاب المصلحة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•  اتجاهات التطوير المستقبلي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ماذا أنجز المشروع؟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منصة ويب آمنة ومنظمة للاستشارة التخصصية عن بُعد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57628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46735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48564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430780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بديل عملي عن القنوات غير الرسمية مثل WhatsApp و Facebook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60776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327050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328879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33928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مسار كامل: تسجيل، استشارة، مرفقات، رد، متابعة، وتوثيق أطباء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63924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37076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مبني على استبيان محلي شمل أكثر من 60 مشاركًا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67072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018520" y="487680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489508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40224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معمارية ثلاثية الطبقات (Three-Tier) قابلة للصيانة والتوسع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70220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018520" y="567994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569823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643372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اختبارات أكّدت الوظيفة وقابلية الاستخدام والأمان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التوصيات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للمؤسسات الصحية والمنظمات: تبنّي منصات طب عن بُعد (Telemedicine) منظمة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59202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2354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للمؤسسات الطبية: وضع إجراءات رسمية لتوثيق الأطباء (Physician Verification)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3924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37076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لصنّاع القرار: دعم حلول رقمية آمنة ضمن تحديث الرعاية الصحية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8646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41798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7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للمطورين لاحقًا: تحسين سهولة الاستخدام ووصول المرضى، مع إضافة مراقبة مستمرة لأداء النظام (Monitoring)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B7E3DE"/>
                </a:solidFill>
                <a:latin typeface="Sakkal Majalla"/>
                <a:ea typeface="Sakkal Majalla"/>
                <a:cs typeface="Sakkal Majalla"/>
              </a:rPr>
              <a:t>الفصل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200" b="0">
                <a:solidFill>
                  <a:srgbClr val="4A6B72"/>
                </a:solidFill>
                <a:latin typeface="Sakkal Majalla"/>
                <a:ea typeface="Sakkal Majalla"/>
                <a:cs typeface="Sakkal Majalla"/>
              </a:rPr>
              <a:t>جامعة فلسطين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63D42"/>
                </a:solidFill>
                <a:latin typeface="Sakkal Majalla"/>
                <a:ea typeface="Sakkal Majalla"/>
                <a:cs typeface="Sakkal Majalla"/>
              </a:rPr>
              <a:t>التطويرات المستقبلية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27632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نظام تقييم الأطباء بعد انتهاء الاستشارة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21408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18520" y="223113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24942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194560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بحث متقدم عن الأطباء حسب التخصص والتقييم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688336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18520" y="279806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281635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761488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لوحة تحليلات إدارية (Analytics) لحجم الاستشارات وسرعة الرد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255264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18520" y="336499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338328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28416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تطبيق جوال أو نسخة ويب تقدّمية (PWA)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822192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018520" y="393192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395020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895344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دعم اللغة الإنجليزية مع بقاء العربية أساسًا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389120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018520" y="449884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451713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462272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وضع ليلي (Dark Mode) لتحسين الراحة البصرية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956048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018520" y="506577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18520" y="508406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029200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استشارات فيديو اختيارية في إصدارات لاحقة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522976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018520" y="563270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18520" y="565099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596128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مساعدة ذكاء اصطناعي (AI Assist) مع بقاء القرار النهائي للطبيب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6089904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1018520" y="619963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18520" y="621792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163056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0">
                <a:solidFill>
                  <a:srgbClr val="123037"/>
                </a:solidFill>
                <a:latin typeface="Sakkal Majalla"/>
                <a:ea typeface="Sakkal Majalla"/>
                <a:cs typeface="Sakkal Majalla"/>
              </a:rPr>
              <a:t>ملاحظة: هذه أفكار لتطوير المنصة لاحقًا، وليست ضمن النظام الحالي.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4400" b="1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شكرًا لحسن استماعكم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0">
                <a:solidFill>
                  <a:srgbClr val="D8F3EF"/>
                </a:solidFill>
                <a:latin typeface="Sakkal Majalla"/>
                <a:ea typeface="Sakkal Majalla"/>
                <a:cs typeface="Sakkal Majalla"/>
              </a:rPr>
              <a:t>GazaCare Connect — منصة استشارات طبية عن بُعد آمنة ومنظمة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شكرًا لحسن استماعكم</a:t>
            </a:r>
          </a:p>
          <a:p>
            <a:pPr algn="r" rtl="1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Sakkal Majalla"/>
                <a:ea typeface="Sakkal Majalla"/>
                <a:cs typeface="Sakkal Majalla"/>
              </a:rPr>
              <a:t>نرحّب بأسئلتكم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8FC9C3"/>
                </a:solidFill>
                <a:latin typeface="Calibri"/>
                <a:ea typeface="Calibri"/>
                <a:cs typeface="Calibri"/>
              </a:rPr>
              <a:t>60 / 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